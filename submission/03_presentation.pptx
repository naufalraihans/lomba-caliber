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Monthly loss exposure, 31 months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 ($M)</c:v>
                </c:pt>
              </c:strCache>
            </c:strRef>
          </c:tx>
          <c:dPt>
            <c:idx val="0"/>
            <c:spPr>
              <a:solidFill>
                <a:srgbClr val="1A56DB"/>
              </a:solidFill>
              <a:ln>
                <a:noFill/>
              </a:ln>
            </c:spPr>
          </c:dPt>
          <c:dPt>
            <c:idx val="1"/>
            <c:spPr>
              <a:solidFill>
                <a:srgbClr val="1A56DB"/>
              </a:solidFill>
              <a:ln>
                <a:noFill/>
              </a:ln>
            </c:spPr>
          </c:dPt>
          <c:dPt>
            <c:idx val="2"/>
            <c:spPr>
              <a:solidFill>
                <a:srgbClr val="1A56DB"/>
              </a:solidFill>
              <a:ln>
                <a:noFill/>
              </a:ln>
            </c:spPr>
          </c:dPt>
          <c:dPt>
            <c:idx val="3"/>
            <c:spPr>
              <a:solidFill>
                <a:srgbClr val="1A56DB"/>
              </a:solidFill>
              <a:ln>
                <a:noFill/>
              </a:ln>
            </c:spPr>
          </c:dPt>
          <c:dPt>
            <c:idx val="4"/>
            <c:spPr>
              <a:solidFill>
                <a:srgbClr val="1A56DB"/>
              </a:solidFill>
              <a:ln>
                <a:noFill/>
              </a:ln>
            </c:spPr>
          </c:dPt>
          <c:dPt>
            <c:idx val="5"/>
            <c:spPr>
              <a:solidFill>
                <a:srgbClr val="1A56DB"/>
              </a:solidFill>
              <a:ln>
                <a:noFill/>
              </a:ln>
            </c:spPr>
          </c:dPt>
          <c:dPt>
            <c:idx val="6"/>
            <c:spPr>
              <a:solidFill>
                <a:srgbClr val="1A56DB"/>
              </a:solidFill>
              <a:ln>
                <a:noFill/>
              </a:ln>
            </c:spPr>
          </c:dPt>
          <c:dPt>
            <c:idx val="7"/>
            <c:spPr>
              <a:solidFill>
                <a:srgbClr val="1A56DB"/>
              </a:solidFill>
              <a:ln>
                <a:noFill/>
              </a:ln>
            </c:spPr>
          </c:dPt>
          <c:dPt>
            <c:idx val="8"/>
            <c:spPr>
              <a:solidFill>
                <a:srgbClr val="1A56DB"/>
              </a:solidFill>
              <a:ln>
                <a:noFill/>
              </a:ln>
            </c:spPr>
          </c:dPt>
          <c:dPt>
            <c:idx val="9"/>
            <c:spPr>
              <a:solidFill>
                <a:srgbClr val="1A56DB"/>
              </a:solidFill>
              <a:ln>
                <a:noFill/>
              </a:ln>
            </c:spPr>
          </c:dPt>
          <c:dPt>
            <c:idx val="10"/>
            <c:spPr>
              <a:solidFill>
                <a:srgbClr val="1A56DB"/>
              </a:solidFill>
              <a:ln>
                <a:noFill/>
              </a:ln>
            </c:spPr>
          </c:dPt>
          <c:dPt>
            <c:idx val="11"/>
            <c:spPr>
              <a:solidFill>
                <a:srgbClr val="1A56DB"/>
              </a:solidFill>
              <a:ln>
                <a:noFill/>
              </a:ln>
            </c:spPr>
          </c:dPt>
          <c:dPt>
            <c:idx val="12"/>
            <c:spPr>
              <a:solidFill>
                <a:srgbClr val="1A56DB"/>
              </a:solidFill>
              <a:ln>
                <a:noFill/>
              </a:ln>
            </c:spPr>
          </c:dPt>
          <c:dPt>
            <c:idx val="13"/>
            <c:spPr>
              <a:solidFill>
                <a:srgbClr val="1A56DB"/>
              </a:solidFill>
              <a:ln>
                <a:noFill/>
              </a:ln>
            </c:spPr>
          </c:dPt>
          <c:dPt>
            <c:idx val="14"/>
            <c:spPr>
              <a:solidFill>
                <a:srgbClr val="1A56DB"/>
              </a:solidFill>
              <a:ln>
                <a:noFill/>
              </a:ln>
            </c:spPr>
          </c:dPt>
          <c:dPt>
            <c:idx val="15"/>
            <c:spPr>
              <a:solidFill>
                <a:srgbClr val="1A56DB"/>
              </a:solidFill>
              <a:ln>
                <a:noFill/>
              </a:ln>
            </c:spPr>
          </c:dPt>
          <c:dPt>
            <c:idx val="16"/>
            <c:spPr>
              <a:solidFill>
                <a:srgbClr val="1A56DB"/>
              </a:solidFill>
              <a:ln>
                <a:noFill/>
              </a:ln>
            </c:spPr>
          </c:dPt>
          <c:dPt>
            <c:idx val="17"/>
            <c:spPr>
              <a:solidFill>
                <a:srgbClr val="1A56DB"/>
              </a:solidFill>
              <a:ln>
                <a:noFill/>
              </a:ln>
            </c:spPr>
          </c:dPt>
          <c:dPt>
            <c:idx val="18"/>
            <c:spPr>
              <a:solidFill>
                <a:srgbClr val="1A56DB"/>
              </a:solidFill>
              <a:ln>
                <a:noFill/>
              </a:ln>
            </c:spPr>
          </c:dPt>
          <c:dPt>
            <c:idx val="19"/>
            <c:spPr>
              <a:solidFill>
                <a:srgbClr val="1A56DB"/>
              </a:solidFill>
              <a:ln>
                <a:noFill/>
              </a:ln>
            </c:spPr>
          </c:dPt>
          <c:dPt>
            <c:idx val="20"/>
            <c:spPr>
              <a:solidFill>
                <a:srgbClr val="1A56DB"/>
              </a:solidFill>
              <a:ln>
                <a:noFill/>
              </a:ln>
            </c:spPr>
          </c:dPt>
          <c:dPt>
            <c:idx val="21"/>
            <c:spPr>
              <a:solidFill>
                <a:srgbClr val="1A56DB"/>
              </a:solidFill>
              <a:ln>
                <a:noFill/>
              </a:ln>
            </c:spPr>
          </c:dPt>
          <c:dPt>
            <c:idx val="22"/>
            <c:spPr>
              <a:solidFill>
                <a:srgbClr val="1A56DB"/>
              </a:solidFill>
              <a:ln>
                <a:noFill/>
              </a:ln>
            </c:spPr>
          </c:dPt>
          <c:dPt>
            <c:idx val="23"/>
            <c:spPr>
              <a:solidFill>
                <a:srgbClr val="1A56DB"/>
              </a:solidFill>
              <a:ln>
                <a:noFill/>
              </a:ln>
            </c:spPr>
          </c:dPt>
          <c:dPt>
            <c:idx val="24"/>
            <c:spPr>
              <a:solidFill>
                <a:srgbClr val="1A56DB"/>
              </a:solidFill>
              <a:ln>
                <a:noFill/>
              </a:ln>
            </c:spPr>
          </c:dPt>
          <c:dPt>
            <c:idx val="25"/>
            <c:spPr>
              <a:solidFill>
                <a:srgbClr val="1A56DB"/>
              </a:solidFill>
              <a:ln>
                <a:noFill/>
              </a:ln>
            </c:spPr>
          </c:dPt>
          <c:dPt>
            <c:idx val="26"/>
            <c:spPr>
              <a:solidFill>
                <a:srgbClr val="1A56DB"/>
              </a:solidFill>
              <a:ln>
                <a:noFill/>
              </a:ln>
            </c:spPr>
          </c:dPt>
          <c:dPt>
            <c:idx val="27"/>
            <c:spPr>
              <a:solidFill>
                <a:srgbClr val="DC2626"/>
              </a:solidFill>
              <a:ln>
                <a:noFill/>
              </a:ln>
            </c:spPr>
          </c:dPt>
          <c:dPt>
            <c:idx val="28"/>
            <c:spPr>
              <a:solidFill>
                <a:srgbClr val="1A56DB"/>
              </a:solidFill>
              <a:ln>
                <a:noFill/>
              </a:ln>
            </c:spPr>
          </c:dPt>
          <c:dPt>
            <c:idx val="29"/>
            <c:spPr>
              <a:solidFill>
                <a:srgbClr val="1A56DB"/>
              </a:solidFill>
              <a:ln>
                <a:noFill/>
              </a:ln>
            </c:spPr>
          </c:dPt>
          <c:dPt>
            <c:idx val="30"/>
            <c:spPr>
              <a:solidFill>
                <a:srgbClr val="1A56DB"/>
              </a:solidFill>
              <a:ln>
                <a:noFill/>
              </a:ln>
            </c:spPr>
          </c:dPt>
          <c:cat>
            <c:strRef>
              <c:f>Sheet1!$A$2:$A$32</c:f>
              <c:strCache>
                <c:ptCount val="31"/>
                <c:pt idx="0">
                  <c:v>Jan 2024</c:v>
                </c:pt>
                <c:pt idx="1">
                  <c:v>Feb 2024</c:v>
                </c:pt>
                <c:pt idx="2">
                  <c:v>Mar 2024</c:v>
                </c:pt>
                <c:pt idx="3">
                  <c:v>Apr 2024</c:v>
                </c:pt>
                <c:pt idx="4">
                  <c:v>May 2024</c:v>
                </c:pt>
                <c:pt idx="5">
                  <c:v>Jun 2024</c:v>
                </c:pt>
                <c:pt idx="6">
                  <c:v>Jul 2024</c:v>
                </c:pt>
                <c:pt idx="7">
                  <c:v>Aug 2024</c:v>
                </c:pt>
                <c:pt idx="8">
                  <c:v>Sep 2024</c:v>
                </c:pt>
                <c:pt idx="9">
                  <c:v>Oct 2024</c:v>
                </c:pt>
                <c:pt idx="10">
                  <c:v>Nov 2024</c:v>
                </c:pt>
                <c:pt idx="11">
                  <c:v>Dec 2024</c:v>
                </c:pt>
                <c:pt idx="12">
                  <c:v>Jan 2025</c:v>
                </c:pt>
                <c:pt idx="13">
                  <c:v>Feb 2025</c:v>
                </c:pt>
                <c:pt idx="14">
                  <c:v>Mar 2025</c:v>
                </c:pt>
                <c:pt idx="15">
                  <c:v>Apr 2025</c:v>
                </c:pt>
                <c:pt idx="16">
                  <c:v>May 2025</c:v>
                </c:pt>
                <c:pt idx="17">
                  <c:v>Jun 2025</c:v>
                </c:pt>
                <c:pt idx="18">
                  <c:v>Jul 2025</c:v>
                </c:pt>
                <c:pt idx="19">
                  <c:v>Aug 2025</c:v>
                </c:pt>
                <c:pt idx="20">
                  <c:v>Sep 2025</c:v>
                </c:pt>
                <c:pt idx="21">
                  <c:v>Oct 2025</c:v>
                </c:pt>
                <c:pt idx="22">
                  <c:v>Nov 2025</c:v>
                </c:pt>
                <c:pt idx="23">
                  <c:v>Dec 2025</c:v>
                </c:pt>
                <c:pt idx="24">
                  <c:v>Jan 2026</c:v>
                </c:pt>
                <c:pt idx="25">
                  <c:v>Feb 2026</c:v>
                </c:pt>
                <c:pt idx="26">
                  <c:v>Mar 2026</c:v>
                </c:pt>
                <c:pt idx="27">
                  <c:v>Apr 2026</c:v>
                </c:pt>
                <c:pt idx="28">
                  <c:v>May 2026</c:v>
                </c:pt>
                <c:pt idx="29">
                  <c:v>Jun 2026</c:v>
                </c:pt>
                <c:pt idx="30">
                  <c:v>Jul 2026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1.52</c:v>
                </c:pt>
                <c:pt idx="1">
                  <c:v>3.11</c:v>
                </c:pt>
                <c:pt idx="2">
                  <c:v>1.14</c:v>
                </c:pt>
                <c:pt idx="3">
                  <c:v>1.83</c:v>
                </c:pt>
                <c:pt idx="4">
                  <c:v>1.98</c:v>
                </c:pt>
                <c:pt idx="5">
                  <c:v>1.28</c:v>
                </c:pt>
                <c:pt idx="6">
                  <c:v>1.52</c:v>
                </c:pt>
                <c:pt idx="7">
                  <c:v>1.37</c:v>
                </c:pt>
                <c:pt idx="8">
                  <c:v>1.22</c:v>
                </c:pt>
                <c:pt idx="9">
                  <c:v>2.41</c:v>
                </c:pt>
                <c:pt idx="10">
                  <c:v>2.79</c:v>
                </c:pt>
                <c:pt idx="11">
                  <c:v>3.47</c:v>
                </c:pt>
                <c:pt idx="12">
                  <c:v>3.27</c:v>
                </c:pt>
                <c:pt idx="13">
                  <c:v>2.12</c:v>
                </c:pt>
                <c:pt idx="14">
                  <c:v>4.16</c:v>
                </c:pt>
                <c:pt idx="15">
                  <c:v>2.19</c:v>
                </c:pt>
                <c:pt idx="16">
                  <c:v>1.41</c:v>
                </c:pt>
                <c:pt idx="17">
                  <c:v>2.34</c:v>
                </c:pt>
                <c:pt idx="18">
                  <c:v>0.7</c:v>
                </c:pt>
                <c:pt idx="19">
                  <c:v>3.01</c:v>
                </c:pt>
                <c:pt idx="20">
                  <c:v>1.3</c:v>
                </c:pt>
                <c:pt idx="21">
                  <c:v>1.67</c:v>
                </c:pt>
                <c:pt idx="22">
                  <c:v>0.68</c:v>
                </c:pt>
                <c:pt idx="23">
                  <c:v>2.22</c:v>
                </c:pt>
                <c:pt idx="24">
                  <c:v>1.55</c:v>
                </c:pt>
                <c:pt idx="25">
                  <c:v>2.2</c:v>
                </c:pt>
                <c:pt idx="26">
                  <c:v>1.79</c:v>
                </c:pt>
                <c:pt idx="27">
                  <c:v>5.56</c:v>
                </c:pt>
                <c:pt idx="28">
                  <c:v>2.19</c:v>
                </c:pt>
                <c:pt idx="29">
                  <c:v>2.85</c:v>
                </c:pt>
                <c:pt idx="30">
                  <c:v>2.36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Executive view — fix-first priority ($M, top 3 = 52%)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 ($M)</c:v>
                </c:pt>
              </c:strCache>
            </c:strRef>
          </c:tx>
          <c:dPt>
            <c:idx val="0"/>
            <c:spPr>
              <a:solidFill>
                <a:srgbClr val="1A56DB"/>
              </a:solidFill>
              <a:ln>
                <a:noFill/>
              </a:ln>
            </c:spPr>
          </c:dPt>
          <c:dPt>
            <c:idx val="1"/>
            <c:spPr>
              <a:solidFill>
                <a:srgbClr val="1A56DB"/>
              </a:solidFill>
              <a:ln>
                <a:noFill/>
              </a:ln>
            </c:spPr>
          </c:dPt>
          <c:dPt>
            <c:idx val="2"/>
            <c:spPr>
              <a:solidFill>
                <a:srgbClr val="1A56DB"/>
              </a:solidFill>
              <a:ln>
                <a:noFill/>
              </a:ln>
            </c:spPr>
          </c:dPt>
          <c:dPt>
            <c:idx val="3"/>
            <c:spPr>
              <a:solidFill>
                <a:srgbClr val="9CA3AF"/>
              </a:solidFill>
              <a:ln>
                <a:noFill/>
              </a:ln>
            </c:spPr>
          </c:dPt>
          <c:dPt>
            <c:idx val="4"/>
            <c:spPr>
              <a:solidFill>
                <a:srgbClr val="9CA3AF"/>
              </a:solidFill>
              <a:ln>
                <a:noFill/>
              </a:ln>
            </c:spPr>
          </c:dPt>
          <c:dPt>
            <c:idx val="5"/>
            <c:spPr>
              <a:solidFill>
                <a:srgbClr val="9CA3AF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Leakage</c:v>
                </c:pt>
                <c:pt idx="1">
                  <c:v>High Vibration</c:v>
                </c:pt>
                <c:pt idx="2">
                  <c:v>Worn Out</c:v>
                </c:pt>
                <c:pt idx="3">
                  <c:v>Crack</c:v>
                </c:pt>
                <c:pt idx="4">
                  <c:v>Fouling</c:v>
                </c:pt>
                <c:pt idx="5">
                  <c:v>Error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17.0</c:v>
                </c:pt>
                <c:pt idx="1">
                  <c:v>9.88</c:v>
                </c:pt>
                <c:pt idx="2">
                  <c:v>8.17</c:v>
                </c:pt>
                <c:pt idx="3">
                  <c:v>6.55</c:v>
                </c:pt>
                <c:pt idx="4">
                  <c:v>3.7</c:v>
                </c:pt>
                <c:pt idx="5">
                  <c:v>3.63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900" b="1">
                  <a:solidFill>
                    <a:srgbClr val="1119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Retrieval before vs after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Rank-1 (%)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  <a:ln>
                <a:noFill/>
              </a:ln>
            </c:spPr>
          </c:dPt>
          <c:dPt>
            <c:idx val="1"/>
            <c:spPr>
              <a:solidFill>
                <a:srgbClr val="16A34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Baseline model</c:v>
                </c:pt>
                <c:pt idx="1">
                  <c:v>Full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69.2</c:v>
                </c:pt>
                <c:pt idx="1">
                  <c:v>87.1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1119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Exposure by failure mechanism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 ($M)</c:v>
                </c:pt>
              </c:strCache>
            </c:strRef>
          </c:tx>
          <c:dPt>
            <c:idx val="0"/>
            <c:spPr>
              <a:solidFill>
                <a:srgbClr val="1A56DB"/>
              </a:solidFill>
              <a:ln>
                <a:noFill/>
              </a:ln>
            </c:spPr>
          </c:dPt>
          <c:dPt>
            <c:idx val="1"/>
            <c:spPr>
              <a:solidFill>
                <a:srgbClr val="1A56DB"/>
              </a:solidFill>
              <a:ln>
                <a:noFill/>
              </a:ln>
            </c:spPr>
          </c:dPt>
          <c:dPt>
            <c:idx val="2"/>
            <c:spPr>
              <a:solidFill>
                <a:srgbClr val="1A56DB"/>
              </a:solidFill>
              <a:ln>
                <a:noFill/>
              </a:ln>
            </c:spPr>
          </c:dPt>
          <c:dPt>
            <c:idx val="3"/>
            <c:spPr>
              <a:solidFill>
                <a:srgbClr val="9CA3AF"/>
              </a:solidFill>
              <a:ln>
                <a:noFill/>
              </a:ln>
            </c:spPr>
          </c:dPt>
          <c:dPt>
            <c:idx val="4"/>
            <c:spPr>
              <a:solidFill>
                <a:srgbClr val="9CA3AF"/>
              </a:solidFill>
              <a:ln>
                <a:noFill/>
              </a:ln>
            </c:spPr>
          </c:dPt>
          <c:dPt>
            <c:idx val="5"/>
            <c:spPr>
              <a:solidFill>
                <a:srgbClr val="9CA3AF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Leakage</c:v>
                </c:pt>
                <c:pt idx="1">
                  <c:v>High Vibration</c:v>
                </c:pt>
                <c:pt idx="2">
                  <c:v>Worn Out</c:v>
                </c:pt>
                <c:pt idx="3">
                  <c:v>Crack</c:v>
                </c:pt>
                <c:pt idx="4">
                  <c:v>Fouling</c:v>
                </c:pt>
                <c:pt idx="5">
                  <c:v>Error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17.0</c:v>
                </c:pt>
                <c:pt idx="1">
                  <c:v>9.88</c:v>
                </c:pt>
                <c:pt idx="2">
                  <c:v>8.17</c:v>
                </c:pt>
                <c:pt idx="3">
                  <c:v>6.55</c:v>
                </c:pt>
                <c:pt idx="4">
                  <c:v>3.7</c:v>
                </c:pt>
                <c:pt idx="5">
                  <c:v>3.63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900" b="1">
                  <a:solidFill>
                    <a:srgbClr val="1119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Overdue actions by age, days (179 total)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  <a:ln>
                <a:noFill/>
              </a:ln>
            </c:spPr>
          </c:dPt>
          <c:dPt>
            <c:idx val="1"/>
            <c:spPr>
              <a:solidFill>
                <a:srgbClr val="3B82F6"/>
              </a:solidFill>
              <a:ln>
                <a:noFill/>
              </a:ln>
            </c:spPr>
          </c:dPt>
          <c:dPt>
            <c:idx val="2"/>
            <c:spPr>
              <a:solidFill>
                <a:srgbClr val="D97706"/>
              </a:solidFill>
              <a:ln>
                <a:noFill/>
              </a:ln>
            </c:spPr>
          </c:dPt>
          <c:dPt>
            <c:idx val="3"/>
            <c:spPr>
              <a:solidFill>
                <a:srgbClr val="EA580C"/>
              </a:solidFill>
              <a:ln>
                <a:noFill/>
              </a:ln>
            </c:spPr>
          </c:dPt>
          <c:dPt>
            <c:idx val="4"/>
            <c:spPr>
              <a:solidFill>
                <a:srgbClr val="DC2626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0-30</c:v>
                </c:pt>
                <c:pt idx="1">
                  <c:v>31-90</c:v>
                </c:pt>
                <c:pt idx="2">
                  <c:v>91-180</c:v>
                </c:pt>
                <c:pt idx="3">
                  <c:v>181-365</c:v>
                </c:pt>
                <c:pt idx="4">
                  <c:v>&gt;365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22</c:v>
                </c:pt>
                <c:pt idx="2">
                  <c:v>13</c:v>
                </c:pt>
                <c:pt idx="3">
                  <c:v>31</c:v>
                </c:pt>
                <c:pt idx="4">
                  <c:v>109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1119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KO-3201 DE vibration, 26 weeks (micron) — real history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 vibration (micron)</c:v>
                </c:pt>
              </c:strCache>
            </c:strRef>
          </c:tx>
          <c:spPr>
            <a:ln w="31750">
              <a:solidFill>
                <a:srgbClr val="1A56DB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28.9</c:v>
                </c:pt>
                <c:pt idx="1">
                  <c:v>26.9</c:v>
                </c:pt>
                <c:pt idx="2">
                  <c:v>29.7</c:v>
                </c:pt>
                <c:pt idx="3">
                  <c:v>29.0</c:v>
                </c:pt>
                <c:pt idx="4">
                  <c:v>28.7</c:v>
                </c:pt>
                <c:pt idx="5">
                  <c:v>30.3</c:v>
                </c:pt>
                <c:pt idx="6">
                  <c:v>33.7</c:v>
                </c:pt>
                <c:pt idx="7">
                  <c:v>33.9</c:v>
                </c:pt>
                <c:pt idx="8">
                  <c:v>35.4</c:v>
                </c:pt>
                <c:pt idx="9">
                  <c:v>37.7</c:v>
                </c:pt>
                <c:pt idx="10">
                  <c:v>39.6</c:v>
                </c:pt>
                <c:pt idx="11">
                  <c:v>41.6</c:v>
                </c:pt>
                <c:pt idx="12">
                  <c:v>45.5</c:v>
                </c:pt>
                <c:pt idx="13">
                  <c:v>49.2</c:v>
                </c:pt>
                <c:pt idx="14">
                  <c:v>51.1</c:v>
                </c:pt>
                <c:pt idx="15">
                  <c:v>55.9</c:v>
                </c:pt>
                <c:pt idx="16">
                  <c:v>59.1</c:v>
                </c:pt>
                <c:pt idx="17">
                  <c:v>60.5</c:v>
                </c:pt>
                <c:pt idx="18">
                  <c:v>66.7</c:v>
                </c:pt>
                <c:pt idx="19">
                  <c:v>71.7</c:v>
                </c:pt>
                <c:pt idx="20">
                  <c:v>76.5</c:v>
                </c:pt>
                <c:pt idx="21">
                  <c:v>27.1</c:v>
                </c:pt>
                <c:pt idx="22">
                  <c:v>27.7</c:v>
                </c:pt>
                <c:pt idx="23">
                  <c:v>26.9</c:v>
                </c:pt>
                <c:pt idx="24">
                  <c:v>27.4</c:v>
                </c:pt>
                <c:pt idx="25">
                  <c:v>27.2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ALARM (45)</c:v>
                </c:pt>
              </c:strCache>
            </c:strRef>
          </c:tx>
          <c:spPr>
            <a:ln w="22225">
              <a:solidFill>
                <a:srgbClr val="D97706"/>
              </a:solidFill>
              <a:prstDash val="dash"/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45.0</c:v>
                </c:pt>
                <c:pt idx="1">
                  <c:v>45.0</c:v>
                </c:pt>
                <c:pt idx="2">
                  <c:v>45.0</c:v>
                </c:pt>
                <c:pt idx="3">
                  <c:v>45.0</c:v>
                </c:pt>
                <c:pt idx="4">
                  <c:v>45.0</c:v>
                </c:pt>
                <c:pt idx="5">
                  <c:v>45.0</c:v>
                </c:pt>
                <c:pt idx="6">
                  <c:v>45.0</c:v>
                </c:pt>
                <c:pt idx="7">
                  <c:v>45.0</c:v>
                </c:pt>
                <c:pt idx="8">
                  <c:v>45.0</c:v>
                </c:pt>
                <c:pt idx="9">
                  <c:v>45.0</c:v>
                </c:pt>
                <c:pt idx="10">
                  <c:v>45.0</c:v>
                </c:pt>
                <c:pt idx="11">
                  <c:v>45.0</c:v>
                </c:pt>
                <c:pt idx="12">
                  <c:v>45.0</c:v>
                </c:pt>
                <c:pt idx="13">
                  <c:v>45.0</c:v>
                </c:pt>
                <c:pt idx="14">
                  <c:v>45.0</c:v>
                </c:pt>
                <c:pt idx="15">
                  <c:v>45.0</c:v>
                </c:pt>
                <c:pt idx="16">
                  <c:v>45.0</c:v>
                </c:pt>
                <c:pt idx="17">
                  <c:v>45.0</c:v>
                </c:pt>
                <c:pt idx="18">
                  <c:v>45.0</c:v>
                </c:pt>
                <c:pt idx="19">
                  <c:v>45.0</c:v>
                </c:pt>
                <c:pt idx="20">
                  <c:v>45.0</c:v>
                </c:pt>
                <c:pt idx="21">
                  <c:v>45.0</c:v>
                </c:pt>
                <c:pt idx="22">
                  <c:v>45.0</c:v>
                </c:pt>
                <c:pt idx="23">
                  <c:v>45.0</c:v>
                </c:pt>
                <c:pt idx="24">
                  <c:v>45.0</c:v>
                </c:pt>
                <c:pt idx="25">
                  <c:v>45.0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TRIP (75)</c:v>
                </c:pt>
              </c:strCache>
            </c:strRef>
          </c:tx>
          <c:spPr>
            <a:ln w="22225">
              <a:solidFill>
                <a:srgbClr val="DC2626"/>
              </a:solidFill>
              <a:prstDash val="dash"/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75.0</c:v>
                </c:pt>
                <c:pt idx="1">
                  <c:v>75.0</c:v>
                </c:pt>
                <c:pt idx="2">
                  <c:v>75.0</c:v>
                </c:pt>
                <c:pt idx="3">
                  <c:v>75.0</c:v>
                </c:pt>
                <c:pt idx="4">
                  <c:v>75.0</c:v>
                </c:pt>
                <c:pt idx="5">
                  <c:v>75.0</c:v>
                </c:pt>
                <c:pt idx="6">
                  <c:v>75.0</c:v>
                </c:pt>
                <c:pt idx="7">
                  <c:v>75.0</c:v>
                </c:pt>
                <c:pt idx="8">
                  <c:v>75.0</c:v>
                </c:pt>
                <c:pt idx="9">
                  <c:v>75.0</c:v>
                </c:pt>
                <c:pt idx="10">
                  <c:v>75.0</c:v>
                </c:pt>
                <c:pt idx="11">
                  <c:v>75.0</c:v>
                </c:pt>
                <c:pt idx="12">
                  <c:v>75.0</c:v>
                </c:pt>
                <c:pt idx="13">
                  <c:v>75.0</c:v>
                </c:pt>
                <c:pt idx="14">
                  <c:v>75.0</c:v>
                </c:pt>
                <c:pt idx="15">
                  <c:v>75.0</c:v>
                </c:pt>
                <c:pt idx="16">
                  <c:v>75.0</c:v>
                </c:pt>
                <c:pt idx="17">
                  <c:v>75.0</c:v>
                </c:pt>
                <c:pt idx="18">
                  <c:v>75.0</c:v>
                </c:pt>
                <c:pt idx="19">
                  <c:v>75.0</c:v>
                </c:pt>
                <c:pt idx="20">
                  <c:v>75.0</c:v>
                </c:pt>
                <c:pt idx="21">
                  <c:v>75.0</c:v>
                </c:pt>
                <c:pt idx="22">
                  <c:v>75.0</c:v>
                </c:pt>
                <c:pt idx="23">
                  <c:v>75.0</c:v>
                </c:pt>
                <c:pt idx="24">
                  <c:v>75.0</c:v>
                </c:pt>
                <c:pt idx="25">
                  <c:v>75.0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11928"/>
                </a:solidFill>
                <a:latin typeface="Calibri"/>
              </a:rPr>
              <a:t>Similar-incident retrieval, before vs after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Rank-1 (%)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  <a:ln>
                <a:noFill/>
              </a:ln>
            </c:spPr>
          </c:dPt>
          <c:dPt>
            <c:idx val="1"/>
            <c:spPr>
              <a:solidFill>
                <a:srgbClr val="16A34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Baseline model</c:v>
                </c:pt>
                <c:pt idx="1">
                  <c:v>Full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69.2</c:v>
                </c:pt>
                <c:pt idx="1">
                  <c:v>87.1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1119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8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169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754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339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08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7093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8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262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05432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017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601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34186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3771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53356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2940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525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82110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71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143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714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286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857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429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000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572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43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15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286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917382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FB3D1"/>
                </a:solidFill>
                <a:latin typeface="Calibri"/>
              </a:rPr>
              <a:t>CALIBER 2026 — CASE 2: INTELLIGENT 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One file. One truth.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From data to decision.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D5E8"/>
                </a:solidFill>
                <a:latin typeface="Calibri"/>
              </a:rPr>
              <a:t>A single pane of glass for fragmented manufacturing data: one governed table, executive visibility, AI-assisted root cause.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Pengacara  ·  Institut Teknologi PLN  ·  Supervisor: Mr. Bayu Aji Soedibyo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160520"/>
            <a:ext cx="2606040" cy="100584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$67.19M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USD exposure in scope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160520"/>
            <a:ext cx="2606040" cy="100584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2,261 h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downtime, 380 records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160520"/>
            <a:ext cx="2606040" cy="100584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179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overdue actions (109 past 1 year)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4160520"/>
            <a:ext cx="2606040" cy="100584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87.1%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AI retrieval at rank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FB6D9"/>
                </a:solidFill>
                <a:latin typeface="Calibri"/>
              </a:rPr>
              <a:t>Team Pengacara — Institut Teknologi PLN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FB6D9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BACKGROUND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The loss curve is going up, not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Six functions, six dashboards, six KPI definitions — hours of validation before every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Source: baseline Incident Database, 380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02 / 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148840"/>
          <a:ext cx="63093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2148840"/>
            <a:ext cx="201168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+34%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2026 run-rate vs 2024 ($1.97M → $2.64M/mo)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148840"/>
            <a:ext cx="201168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$5.56M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worst month (Apr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00400"/>
            <a:ext cx="201168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56%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of exposure sits behind an overdue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200400"/>
            <a:ext cx="201168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109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actions overdue 1 year+ (oldest 926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Why it matters: 220 actions open, 179 past due (median age 463 days). Root cause is found late, so the same failure keeps repeating.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29768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11928"/>
                </a:solidFill>
                <a:latin typeface="Calibri"/>
              </a:rPr>
              <a:t>Alerts fire, but nobody owns them: every overdue row carries owner + age.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11928"/>
                </a:solidFill>
                <a:latin typeface="Calibri"/>
              </a:rPr>
              <a:t>Decision-making is slow and reactive; optimization opportunities are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Four sources in. One governed table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Objective: cut validation time to zero — every function reads one governed table in a single offline pane of glass.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Declared additions: energy proxy + CCTV illustration, both labeled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938528" cy="9601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Incident DB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380 x 23 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A56D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286000"/>
            <a:ext cx="1938528" cy="9601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Equipment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5 x 26 weekly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A56D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2286000"/>
            <a:ext cx="1938528" cy="9601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Production PI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5 x 720 hourly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A56D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2286000"/>
            <a:ext cx="1938528" cy="9601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Downtime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2,261.1 h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584" y="25603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A56D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2286000"/>
            <a:ext cx="1938528" cy="9601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ONE TABLE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one definition per KPI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" y="3520440"/>
          <a:ext cx="548640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400800" y="3520440"/>
            <a:ext cx="2468880" cy="1207008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Single KPI contract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Same metric from incident DB, PI tags, or declared value — divergence visible, not hidden.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520440"/>
            <a:ext cx="2468880" cy="1207008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Governed quality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Nulls, units, gaps published in a Data Governance view — listed, never patched.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864608"/>
            <a:ext cx="2468880" cy="1207008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Offline by design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One HTML file from a USB stick. No install, no server — survives a judge PC.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864608"/>
            <a:ext cx="2468880" cy="1207008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AI + human close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Retrieval 87.1% at rank 1; AI suggests, the PIC closes every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Four numbers we commit to moving.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Baseline = measured. Target = modeled commitment with basis stated, in the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Targets are modeled from this baseline, not measured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04 /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320040"/>
                <a:gridCol w="1097280"/>
                <a:gridCol w="2788920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Basis / KPI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928"/>
                          </a:solidFill>
                          <a:latin typeface="Calibri"/>
                        </a:rPr>
                        <a:t>Monthly loss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91B1B"/>
                          </a:solidFill>
                          <a:latin typeface="Calibri"/>
                        </a:rPr>
                        <a:t>$2.64M/mo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$1.97M/mo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2026 rate vs 2024 level. Fix-first on top-3 covers 52% of exposure.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928"/>
                          </a:solidFill>
                          <a:latin typeface="Calibri"/>
                        </a:rPr>
                        <a:t>Overdue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91B1B"/>
                          </a:solidFill>
                          <a:latin typeface="Calibri"/>
                        </a:rPr>
                        <a:t>179 of 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109 actions past due 1 year+. Owner + due date mandatory at creation.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928"/>
                          </a:solidFill>
                          <a:latin typeface="Calibri"/>
                        </a:rPr>
                        <a:t>Retrieval @1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91B1B"/>
                          </a:solidFill>
                          <a:latin typeface="Calibri"/>
                        </a:rPr>
                        <a:t>69.2%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87.1%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Leave-one-out on n=380. Full model CI 83.4–90.1%.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1928"/>
                          </a:solidFill>
                          <a:latin typeface="Calibri"/>
                        </a:rPr>
                        <a:t>Warning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991B1B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67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928"/>
                          </a:solidFill>
                          <a:latin typeface="Calibri"/>
                        </a:rPr>
                        <a:t>Mean first-ALARM-to-TRIP gap from 26-week condition history.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680960" y="2194560"/>
          <a:ext cx="38404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Success metrics: rank-1 87.1% (CI 83.4–90.1), rank-5 98.4%, lift +17.9 pts from uniting 4 sources. Warning 67 days mean across 5 assets. All reproducible from the baseline — method published in appendix.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FEASIBILITY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Feasible offline. Live in three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No new hardware, no plant shutdown, no internet dependency.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Phase gates: each phase ships a working file before the next begins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05 /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6035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9768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Readiness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One HTML file; no server, no install, runs offline on any PC.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Fits existing RCA/AR workflow; owner + due date enforced.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Baseline data only + 2 declared additions; no personal data.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Cybersecurity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Fully offline; no network calls, no credentials stored.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Data governance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Defects published in-app; one KPI contract, visible lineage.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Six functions keep their views; one shared definition per KPI.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2194560"/>
            <a:ext cx="4480560" cy="11887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Phase 1 — Meter it (0–3 mo)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Deploy the governed table + dashboard; enforce owner and due date on every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520439"/>
            <a:ext cx="4480560" cy="11887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Phase 2 — Connect it (3–6 mo)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Link EDMS / AIMS / Digital Twin for asset context; replace energy proxy with 5 metered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846320"/>
            <a:ext cx="4480560" cy="11887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11928"/>
                </a:solidFill>
                <a:latin typeface="Calibri"/>
              </a:rPr>
              <a:t>Phase 3 — Stream it (6–12 mo)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Attach PI live feed; architecture already decoupled for streaming.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169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754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339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7923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08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7093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8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262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5847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05432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017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601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34186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3771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53356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62940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525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82110" y="0"/>
            <a:ext cx="12700" cy="68580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71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143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714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286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857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429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000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572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43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150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286500"/>
            <a:ext cx="12191695" cy="12700"/>
          </a:xfrm>
          <a:prstGeom prst="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FB3D1"/>
                </a:solidFill>
                <a:latin typeface="Calibr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8368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One file. One truth.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From data to decision.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377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One governed table replaces six conflicting dashboards — 380 incidents, one definition per KPI.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One screen shows where the money is — top-3 mechanisms hold 52% ($35.04M) of exposure.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AI narrows the search (87.1% rank-1), humans own the close — with 67 days of warning before a trip.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80560"/>
            <a:ext cx="3474720" cy="105156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$2.64M → $1.97M/mo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loss recovery path, fix-first on top-3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480560"/>
            <a:ext cx="3474720" cy="105156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179 → 70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overdue cleared of 1-year+ stale rows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480560"/>
            <a:ext cx="3474720" cy="1051560"/>
          </a:xfrm>
          <a:prstGeom prst="roundRect">
            <a:avLst/>
          </a:prstGeom>
          <a:solidFill>
            <a:srgbClr val="143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69.2% → 87.1%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C9D5E8"/>
                </a:solidFill>
                <a:latin typeface="Calibri"/>
              </a:rPr>
              <a:t>retrieval with published method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FB6D9"/>
                </a:solidFill>
                <a:latin typeface="Calibri"/>
              </a:rPr>
              <a:t>Team Pengacara — Institut Teknologi PLN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FB6D9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TEAM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Team Pengacara — Institut Teknologi PLN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Supervisor: Mr. Bayu Aji Soedibyo.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Team Pengacara — Institut Teknologi PLN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07 /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2860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2194560"/>
                <a:gridCol w="914400"/>
                <a:gridCol w="2468880"/>
                <a:gridCol w="265176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Major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Semester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Area of expertise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Jenny Agustina Rahman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Informatics Engineering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Data storytelling &amp; visualization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Idea formulation, narrative &amp; deck design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Ahmad Hafidz Susanto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Energy Systems 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Energy systems &amp;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Background &amp; problem statement, voice &amp;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1928"/>
                          </a:solidFill>
                          <a:latin typeface="Calibri"/>
                        </a:rPr>
                        <a:t>Naufal Raihan Saputra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Electrical Engineering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Data engineering &amp; analytics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11928"/>
                          </a:solidFill>
                          <a:latin typeface="Calibri"/>
                        </a:rPr>
                        <a:t>Data engineering &amp; dashboard build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B82"/>
                </a:solidFill>
                <a:latin typeface="Calibri"/>
              </a:rPr>
              <a:t>One team, one file: Analyst frames the story, Engineer grounds it in energy reality, Builder ships the dashboard — all three verified against the same baseline.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91B1B"/>
                </a:solidFill>
                <a:latin typeface="Calibri"/>
              </a:rPr>
              <a:t>Note: fill in the Semester column before submitting.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APPENDIX A1 — BASELINE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What we inherited — measured, not asserted.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Every figure recomputed from the same incident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Supporting evidence for slides 2–3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A1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194560"/>
          <a:ext cx="5394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19456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280160"/>
                <a:gridCol w="19202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Overdue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Loss ($M)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ZCU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11.11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9.08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OPP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7.54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SMX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7.43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OP2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5.81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NUP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5.49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OP3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5.26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BRP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11928"/>
                          </a:solidFill>
                          <a:latin typeface="Calibri"/>
                        </a:rPr>
                        <a:t>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Top 3 = 52% ($35.04M) in 205 of 380 records. Unit ZCU alone: $11.11M + 29 overdue.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APPENDIX A2 — ACTION 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109 actions are more than a year 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179 overdue at 19-Aug-2026. Median age 463 days, oldest 926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Supporting evidence for slides 2 and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A2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194560"/>
          <a:ext cx="58521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2194560"/>
            <a:ext cx="2194560" cy="13716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179 → 70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OVERDUE → TARGET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194560"/>
            <a:ext cx="2194560" cy="13716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$37.32M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of exposure (56%) stuck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49039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Target basis: owner + due date mandatory at creation; closure blocked without evidence.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Red dot = nobody on it. Purple = in progress. Green = done.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APPENDIX A3 — CASE RECONSTRUCTION: KO-3201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Watch it degrade. 67 days of warning.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Real 26-week history. KO-3201 ALARM W10, TRIP W21: 77 days to act. Mean 67 days across 5 assets.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Demo path: RCA tab → KO-3201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A3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286000"/>
          <a:ext cx="64008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2286000"/>
          <a:ext cx="4206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PU-2101B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42 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Actionable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PM-4405B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42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Actionable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HE-3301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70 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Before trip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KO-3201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77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Before trip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BL-5702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105 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928"/>
                          </a:solidFill>
                          <a:latin typeface="Calibri"/>
                        </a:rPr>
                        <a:t>Before trip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All 5 RCA decks integrated (4P / 4M+1E, CAPA, PIC, PM schedule). Alarm/trip limits from the equipment nameplate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APPENDIX A4 —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AI suggests. Humans close.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Leave-one-out on all 380 records — not a demo set. Target: same failure mechanism in the top-k neighbours (mechanism excluded from features).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Supporting evidence for slide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A4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228600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0" y="2286000"/>
            <a:ext cx="2194560" cy="12344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87.1%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rank-1, CI 83.4–90.1%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286000"/>
            <a:ext cx="2194560" cy="12344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66534"/>
                </a:solidFill>
                <a:latin typeface="Calibri"/>
              </a:rPr>
              <a:t>+17.9 pts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vs thin baseline (69.2%)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657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Rank-5: 98.4%. Prevalence baseline (always guess Leakage): 26.6% — the model far exceeds it.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91B1B"/>
                </a:solidFill>
                <a:latin typeface="Calibri"/>
              </a:rPr>
              <a:t>Human-in-the-loop: AI never closes an action. The PIC does.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B82"/>
                </a:solidFill>
                <a:latin typeface="Calibri"/>
              </a:rPr>
              <a:t>Honest limits: no live streaming, no auto-closure, no data beyond 2 declared additions.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APPENDIX A5 — SOURCES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1928"/>
                </a:solidFill>
                <a:latin typeface="Calibri"/>
              </a:rPr>
              <a:t>Measured. Labeled. Out of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B6B82"/>
                </a:solidFill>
                <a:latin typeface="Calibri"/>
              </a:rPr>
              <a:t>High-quality justified architecture beats more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9692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Supporting evidence: every chart traces to one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CA3AF"/>
                </a:solidFill>
                <a:latin typeface="Calibri"/>
              </a:rPr>
              <a:t>A5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74720" cy="155448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66534"/>
                </a:solidFill>
                <a:latin typeface="Calibri"/>
              </a:rPr>
              <a:t>Measured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Loss, downtime, aging — 380 real records
Retrieval 87.1% / 98.4% leave-one-out
Warning 67 d from condition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94560"/>
            <a:ext cx="3474720" cy="155448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111928"/>
                </a:solidFill>
                <a:latin typeface="Calibri"/>
              </a:rPr>
              <a:t>Labeled, not hidden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Energy = derived proxy, formula printed
CCTV wall = illustration, aggregates real
Baseline defects listed in Data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194560"/>
            <a:ext cx="3474720" cy="155448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991B1B"/>
                </a:solidFill>
                <a:latin typeface="Calibri"/>
              </a:rPr>
              <a:t>Out of scope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B82"/>
                </a:solidFill>
                <a:latin typeface="Calibri"/>
              </a:rPr>
              <a:t>No live streaming (not required)
No auto-closure (human-in-the-loop)
No extra data beyond 2 declared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11928"/>
                </a:solidFill>
                <a:latin typeface="Calibri"/>
              </a:rPr>
              <a:t>Sources united: Incident DB (380 x 23 cols) + Equipment condition (5 x 26 weeks) + Production PI (5 x 720 hourly rows) + Downtime (2,261.1 h). Justification: each source answers one key question — history, health, output, loss.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11928"/>
                </a:solidFill>
                <a:latin typeface="Calibri"/>
              </a:rPr>
              <a:t>Additional sources proposed only with business justification: 5 metered energy tags (replace proxy), EDMS/AIMS/Twin (asset context), PI live feed (streaming).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
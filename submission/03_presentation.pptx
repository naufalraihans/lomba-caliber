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Monthly loss exposure, 31 months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Loss ($M)</c:v>
                </c:pt>
              </c:strCache>
            </c:strRef>
          </c:tx>
          <c:dPt>
            <c:idx val="0"/>
            <c:spPr>
              <a:solidFill>
                <a:srgbClr val="1A56DB"/>
              </a:solidFill>
              <a:ln>
                <a:noFill/>
              </a:ln>
            </c:spPr>
          </c:dPt>
          <c:dPt>
            <c:idx val="1"/>
            <c:spPr>
              <a:solidFill>
                <a:srgbClr val="1A56DB"/>
              </a:solidFill>
              <a:ln>
                <a:noFill/>
              </a:ln>
            </c:spPr>
          </c:dPt>
          <c:dPt>
            <c:idx val="2"/>
            <c:spPr>
              <a:solidFill>
                <a:srgbClr val="1A56DB"/>
              </a:solidFill>
              <a:ln>
                <a:noFill/>
              </a:ln>
            </c:spPr>
          </c:dPt>
          <c:dPt>
            <c:idx val="3"/>
            <c:spPr>
              <a:solidFill>
                <a:srgbClr val="1A56DB"/>
              </a:solidFill>
              <a:ln>
                <a:noFill/>
              </a:ln>
            </c:spPr>
          </c:dPt>
          <c:dPt>
            <c:idx val="4"/>
            <c:spPr>
              <a:solidFill>
                <a:srgbClr val="1A56DB"/>
              </a:solidFill>
              <a:ln>
                <a:noFill/>
              </a:ln>
            </c:spPr>
          </c:dPt>
          <c:dPt>
            <c:idx val="5"/>
            <c:spPr>
              <a:solidFill>
                <a:srgbClr val="1A56DB"/>
              </a:solidFill>
              <a:ln>
                <a:noFill/>
              </a:ln>
            </c:spPr>
          </c:dPt>
          <c:dPt>
            <c:idx val="6"/>
            <c:spPr>
              <a:solidFill>
                <a:srgbClr val="1A56DB"/>
              </a:solidFill>
              <a:ln>
                <a:noFill/>
              </a:ln>
            </c:spPr>
          </c:dPt>
          <c:dPt>
            <c:idx val="7"/>
            <c:spPr>
              <a:solidFill>
                <a:srgbClr val="1A56DB"/>
              </a:solidFill>
              <a:ln>
                <a:noFill/>
              </a:ln>
            </c:spPr>
          </c:dPt>
          <c:dPt>
            <c:idx val="8"/>
            <c:spPr>
              <a:solidFill>
                <a:srgbClr val="1A56DB"/>
              </a:solidFill>
              <a:ln>
                <a:noFill/>
              </a:ln>
            </c:spPr>
          </c:dPt>
          <c:dPt>
            <c:idx val="9"/>
            <c:spPr>
              <a:solidFill>
                <a:srgbClr val="1A56DB"/>
              </a:solidFill>
              <a:ln>
                <a:noFill/>
              </a:ln>
            </c:spPr>
          </c:dPt>
          <c:dPt>
            <c:idx val="10"/>
            <c:spPr>
              <a:solidFill>
                <a:srgbClr val="1A56DB"/>
              </a:solidFill>
              <a:ln>
                <a:noFill/>
              </a:ln>
            </c:spPr>
          </c:dPt>
          <c:dPt>
            <c:idx val="11"/>
            <c:spPr>
              <a:solidFill>
                <a:srgbClr val="1A56DB"/>
              </a:solidFill>
              <a:ln>
                <a:noFill/>
              </a:ln>
            </c:spPr>
          </c:dPt>
          <c:dPt>
            <c:idx val="12"/>
            <c:spPr>
              <a:solidFill>
                <a:srgbClr val="1A56DB"/>
              </a:solidFill>
              <a:ln>
                <a:noFill/>
              </a:ln>
            </c:spPr>
          </c:dPt>
          <c:dPt>
            <c:idx val="13"/>
            <c:spPr>
              <a:solidFill>
                <a:srgbClr val="1A56DB"/>
              </a:solidFill>
              <a:ln>
                <a:noFill/>
              </a:ln>
            </c:spPr>
          </c:dPt>
          <c:dPt>
            <c:idx val="14"/>
            <c:spPr>
              <a:solidFill>
                <a:srgbClr val="1A56DB"/>
              </a:solidFill>
              <a:ln>
                <a:noFill/>
              </a:ln>
            </c:spPr>
          </c:dPt>
          <c:dPt>
            <c:idx val="15"/>
            <c:spPr>
              <a:solidFill>
                <a:srgbClr val="1A56DB"/>
              </a:solidFill>
              <a:ln>
                <a:noFill/>
              </a:ln>
            </c:spPr>
          </c:dPt>
          <c:dPt>
            <c:idx val="16"/>
            <c:spPr>
              <a:solidFill>
                <a:srgbClr val="1A56DB"/>
              </a:solidFill>
              <a:ln>
                <a:noFill/>
              </a:ln>
            </c:spPr>
          </c:dPt>
          <c:dPt>
            <c:idx val="17"/>
            <c:spPr>
              <a:solidFill>
                <a:srgbClr val="1A56DB"/>
              </a:solidFill>
              <a:ln>
                <a:noFill/>
              </a:ln>
            </c:spPr>
          </c:dPt>
          <c:dPt>
            <c:idx val="18"/>
            <c:spPr>
              <a:solidFill>
                <a:srgbClr val="1A56DB"/>
              </a:solidFill>
              <a:ln>
                <a:noFill/>
              </a:ln>
            </c:spPr>
          </c:dPt>
          <c:dPt>
            <c:idx val="19"/>
            <c:spPr>
              <a:solidFill>
                <a:srgbClr val="1A56DB"/>
              </a:solidFill>
              <a:ln>
                <a:noFill/>
              </a:ln>
            </c:spPr>
          </c:dPt>
          <c:dPt>
            <c:idx val="20"/>
            <c:spPr>
              <a:solidFill>
                <a:srgbClr val="1A56DB"/>
              </a:solidFill>
              <a:ln>
                <a:noFill/>
              </a:ln>
            </c:spPr>
          </c:dPt>
          <c:dPt>
            <c:idx val="21"/>
            <c:spPr>
              <a:solidFill>
                <a:srgbClr val="1A56DB"/>
              </a:solidFill>
              <a:ln>
                <a:noFill/>
              </a:ln>
            </c:spPr>
          </c:dPt>
          <c:dPt>
            <c:idx val="22"/>
            <c:spPr>
              <a:solidFill>
                <a:srgbClr val="1A56DB"/>
              </a:solidFill>
              <a:ln>
                <a:noFill/>
              </a:ln>
            </c:spPr>
          </c:dPt>
          <c:dPt>
            <c:idx val="23"/>
            <c:spPr>
              <a:solidFill>
                <a:srgbClr val="1A56DB"/>
              </a:solidFill>
              <a:ln>
                <a:noFill/>
              </a:ln>
            </c:spPr>
          </c:dPt>
          <c:dPt>
            <c:idx val="24"/>
            <c:spPr>
              <a:solidFill>
                <a:srgbClr val="1A56DB"/>
              </a:solidFill>
              <a:ln>
                <a:noFill/>
              </a:ln>
            </c:spPr>
          </c:dPt>
          <c:dPt>
            <c:idx val="25"/>
            <c:spPr>
              <a:solidFill>
                <a:srgbClr val="1A56DB"/>
              </a:solidFill>
              <a:ln>
                <a:noFill/>
              </a:ln>
            </c:spPr>
          </c:dPt>
          <c:dPt>
            <c:idx val="26"/>
            <c:spPr>
              <a:solidFill>
                <a:srgbClr val="1A56DB"/>
              </a:solidFill>
              <a:ln>
                <a:noFill/>
              </a:ln>
            </c:spPr>
          </c:dPt>
          <c:dPt>
            <c:idx val="27"/>
            <c:spPr>
              <a:solidFill>
                <a:srgbClr val="DC2626"/>
              </a:solidFill>
              <a:ln>
                <a:noFill/>
              </a:ln>
            </c:spPr>
          </c:dPt>
          <c:dPt>
            <c:idx val="28"/>
            <c:spPr>
              <a:solidFill>
                <a:srgbClr val="1A56DB"/>
              </a:solidFill>
              <a:ln>
                <a:noFill/>
              </a:ln>
            </c:spPr>
          </c:dPt>
          <c:dPt>
            <c:idx val="29"/>
            <c:spPr>
              <a:solidFill>
                <a:srgbClr val="1A56DB"/>
              </a:solidFill>
              <a:ln>
                <a:noFill/>
              </a:ln>
            </c:spPr>
          </c:dPt>
          <c:dPt>
            <c:idx val="30"/>
            <c:spPr>
              <a:solidFill>
                <a:srgbClr val="1A56DB"/>
              </a:solidFill>
              <a:ln>
                <a:noFill/>
              </a:ln>
            </c:spPr>
          </c:dPt>
          <c:cat>
            <c:strRef>
              <c:f>Sheet1!$A$2:$A$32</c:f>
              <c:strCache>
                <c:ptCount val="31"/>
                <c:pt idx="0">
                  <c:v>Jan 2024</c:v>
                </c:pt>
                <c:pt idx="1">
                  <c:v>Feb 2024</c:v>
                </c:pt>
                <c:pt idx="2">
                  <c:v>Mar 2024</c:v>
                </c:pt>
                <c:pt idx="3">
                  <c:v>Apr 2024</c:v>
                </c:pt>
                <c:pt idx="4">
                  <c:v>May 2024</c:v>
                </c:pt>
                <c:pt idx="5">
                  <c:v>Jun 2024</c:v>
                </c:pt>
                <c:pt idx="6">
                  <c:v>Jul 2024</c:v>
                </c:pt>
                <c:pt idx="7">
                  <c:v>Aug 2024</c:v>
                </c:pt>
                <c:pt idx="8">
                  <c:v>Sep 2024</c:v>
                </c:pt>
                <c:pt idx="9">
                  <c:v>Oct 2024</c:v>
                </c:pt>
                <c:pt idx="10">
                  <c:v>Nov 2024</c:v>
                </c:pt>
                <c:pt idx="11">
                  <c:v>Dec 2024</c:v>
                </c:pt>
                <c:pt idx="12">
                  <c:v>Jan 2025</c:v>
                </c:pt>
                <c:pt idx="13">
                  <c:v>Feb 2025</c:v>
                </c:pt>
                <c:pt idx="14">
                  <c:v>Mar 2025</c:v>
                </c:pt>
                <c:pt idx="15">
                  <c:v>Apr 2025</c:v>
                </c:pt>
                <c:pt idx="16">
                  <c:v>May 2025</c:v>
                </c:pt>
                <c:pt idx="17">
                  <c:v>Jun 2025</c:v>
                </c:pt>
                <c:pt idx="18">
                  <c:v>Jul 2025</c:v>
                </c:pt>
                <c:pt idx="19">
                  <c:v>Aug 2025</c:v>
                </c:pt>
                <c:pt idx="20">
                  <c:v>Sep 2025</c:v>
                </c:pt>
                <c:pt idx="21">
                  <c:v>Oct 2025</c:v>
                </c:pt>
                <c:pt idx="22">
                  <c:v>Nov 2025</c:v>
                </c:pt>
                <c:pt idx="23">
                  <c:v>Dec 2025</c:v>
                </c:pt>
                <c:pt idx="24">
                  <c:v>Jan 2026</c:v>
                </c:pt>
                <c:pt idx="25">
                  <c:v>Feb 2026</c:v>
                </c:pt>
                <c:pt idx="26">
                  <c:v>Mar 2026</c:v>
                </c:pt>
                <c:pt idx="27">
                  <c:v>Apr 2026</c:v>
                </c:pt>
                <c:pt idx="28">
                  <c:v>May 2026</c:v>
                </c:pt>
                <c:pt idx="29">
                  <c:v>Jun 2026</c:v>
                </c:pt>
                <c:pt idx="30">
                  <c:v>Jul 2026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1.52</c:v>
                </c:pt>
                <c:pt idx="1">
                  <c:v>3.11</c:v>
                </c:pt>
                <c:pt idx="2">
                  <c:v>1.14</c:v>
                </c:pt>
                <c:pt idx="3">
                  <c:v>1.83</c:v>
                </c:pt>
                <c:pt idx="4">
                  <c:v>1.98</c:v>
                </c:pt>
                <c:pt idx="5">
                  <c:v>1.28</c:v>
                </c:pt>
                <c:pt idx="6">
                  <c:v>1.52</c:v>
                </c:pt>
                <c:pt idx="7">
                  <c:v>1.37</c:v>
                </c:pt>
                <c:pt idx="8">
                  <c:v>1.22</c:v>
                </c:pt>
                <c:pt idx="9">
                  <c:v>2.41</c:v>
                </c:pt>
                <c:pt idx="10">
                  <c:v>2.79</c:v>
                </c:pt>
                <c:pt idx="11">
                  <c:v>3.47</c:v>
                </c:pt>
                <c:pt idx="12">
                  <c:v>3.27</c:v>
                </c:pt>
                <c:pt idx="13">
                  <c:v>2.12</c:v>
                </c:pt>
                <c:pt idx="14">
                  <c:v>4.16</c:v>
                </c:pt>
                <c:pt idx="15">
                  <c:v>2.19</c:v>
                </c:pt>
                <c:pt idx="16">
                  <c:v>1.41</c:v>
                </c:pt>
                <c:pt idx="17">
                  <c:v>2.34</c:v>
                </c:pt>
                <c:pt idx="18">
                  <c:v>0.7</c:v>
                </c:pt>
                <c:pt idx="19">
                  <c:v>3.01</c:v>
                </c:pt>
                <c:pt idx="20">
                  <c:v>1.3</c:v>
                </c:pt>
                <c:pt idx="21">
                  <c:v>1.67</c:v>
                </c:pt>
                <c:pt idx="22">
                  <c:v>0.68</c:v>
                </c:pt>
                <c:pt idx="23">
                  <c:v>2.22</c:v>
                </c:pt>
                <c:pt idx="24">
                  <c:v>1.55</c:v>
                </c:pt>
                <c:pt idx="25">
                  <c:v>2.2</c:v>
                </c:pt>
                <c:pt idx="26">
                  <c:v>1.79</c:v>
                </c:pt>
                <c:pt idx="27">
                  <c:v>5.56</c:v>
                </c:pt>
                <c:pt idx="28">
                  <c:v>2.19</c:v>
                </c:pt>
                <c:pt idx="29">
                  <c:v>2.85</c:v>
                </c:pt>
                <c:pt idx="30">
                  <c:v>2.36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Exposure by failure mechanism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Loss ($M)</c:v>
                </c:pt>
              </c:strCache>
            </c:strRef>
          </c:tx>
          <c:dPt>
            <c:idx val="0"/>
            <c:spPr>
              <a:solidFill>
                <a:srgbClr val="1A56DB"/>
              </a:solidFill>
              <a:ln>
                <a:noFill/>
              </a:ln>
            </c:spPr>
          </c:dPt>
          <c:dPt>
            <c:idx val="1"/>
            <c:spPr>
              <a:solidFill>
                <a:srgbClr val="1A56DB"/>
              </a:solidFill>
              <a:ln>
                <a:noFill/>
              </a:ln>
            </c:spPr>
          </c:dPt>
          <c:dPt>
            <c:idx val="2"/>
            <c:spPr>
              <a:solidFill>
                <a:srgbClr val="1A56DB"/>
              </a:solidFill>
              <a:ln>
                <a:noFill/>
              </a:ln>
            </c:spPr>
          </c:dPt>
          <c:dPt>
            <c:idx val="3"/>
            <c:spPr>
              <a:solidFill>
                <a:srgbClr val="9CA3AF"/>
              </a:solidFill>
              <a:ln>
                <a:noFill/>
              </a:ln>
            </c:spPr>
          </c:dPt>
          <c:dPt>
            <c:idx val="4"/>
            <c:spPr>
              <a:solidFill>
                <a:srgbClr val="9CA3AF"/>
              </a:solidFill>
              <a:ln>
                <a:noFill/>
              </a:ln>
            </c:spPr>
          </c:dPt>
          <c:dPt>
            <c:idx val="5"/>
            <c:spPr>
              <a:solidFill>
                <a:srgbClr val="9CA3AF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Leakage</c:v>
                </c:pt>
                <c:pt idx="1">
                  <c:v>High Vibration</c:v>
                </c:pt>
                <c:pt idx="2">
                  <c:v>Worn Out</c:v>
                </c:pt>
                <c:pt idx="3">
                  <c:v>Crack</c:v>
                </c:pt>
                <c:pt idx="4">
                  <c:v>Fouling</c:v>
                </c:pt>
                <c:pt idx="5">
                  <c:v>Error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17.0</c:v>
                </c:pt>
                <c:pt idx="1">
                  <c:v>9.88</c:v>
                </c:pt>
                <c:pt idx="2">
                  <c:v>8.17</c:v>
                </c:pt>
                <c:pt idx="3">
                  <c:v>6.55</c:v>
                </c:pt>
                <c:pt idx="4">
                  <c:v>3.7</c:v>
                </c:pt>
                <c:pt idx="5">
                  <c:v>3.63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sz="9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Fix-first priority — Pareto of loss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Loss ($M)</c:v>
                </c:pt>
              </c:strCache>
            </c:strRef>
          </c:tx>
          <c:dPt>
            <c:idx val="0"/>
            <c:spPr>
              <a:solidFill>
                <a:srgbClr val="1A56DB"/>
              </a:solidFill>
              <a:ln>
                <a:noFill/>
              </a:ln>
            </c:spPr>
          </c:dPt>
          <c:dPt>
            <c:idx val="1"/>
            <c:spPr>
              <a:solidFill>
                <a:srgbClr val="1A56DB"/>
              </a:solidFill>
              <a:ln>
                <a:noFill/>
              </a:ln>
            </c:spPr>
          </c:dPt>
          <c:dPt>
            <c:idx val="2"/>
            <c:spPr>
              <a:solidFill>
                <a:srgbClr val="1A56DB"/>
              </a:solidFill>
              <a:ln>
                <a:noFill/>
              </a:ln>
            </c:spPr>
          </c:dPt>
          <c:dPt>
            <c:idx val="3"/>
            <c:spPr>
              <a:solidFill>
                <a:srgbClr val="9CA3AF"/>
              </a:solidFill>
              <a:ln>
                <a:noFill/>
              </a:ln>
            </c:spPr>
          </c:dPt>
          <c:dPt>
            <c:idx val="4"/>
            <c:spPr>
              <a:solidFill>
                <a:srgbClr val="9CA3AF"/>
              </a:solidFill>
              <a:ln>
                <a:noFill/>
              </a:ln>
            </c:spPr>
          </c:dPt>
          <c:dPt>
            <c:idx val="5"/>
            <c:spPr>
              <a:solidFill>
                <a:srgbClr val="9CA3AF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Leakage</c:v>
                </c:pt>
                <c:pt idx="1">
                  <c:v>High Vibration</c:v>
                </c:pt>
                <c:pt idx="2">
                  <c:v>Worn Out</c:v>
                </c:pt>
                <c:pt idx="3">
                  <c:v>Crack</c:v>
                </c:pt>
                <c:pt idx="4">
                  <c:v>Fouling</c:v>
                </c:pt>
                <c:pt idx="5">
                  <c:v>Error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17.0</c:v>
                </c:pt>
                <c:pt idx="1">
                  <c:v>9.88</c:v>
                </c:pt>
                <c:pt idx="2">
                  <c:v>8.17</c:v>
                </c:pt>
                <c:pt idx="3">
                  <c:v>6.55</c:v>
                </c:pt>
                <c:pt idx="4">
                  <c:v>3.7</c:v>
                </c:pt>
                <c:pt idx="5">
                  <c:v>3.63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sz="9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Unit ranking — loss with overdue ($M)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Loss ($M)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ZCU</c:v>
                </c:pt>
                <c:pt idx="1">
                  <c:v>ARP</c:v>
                </c:pt>
                <c:pt idx="2">
                  <c:v>OPP</c:v>
                </c:pt>
                <c:pt idx="3">
                  <c:v>SMX</c:v>
                </c:pt>
                <c:pt idx="4">
                  <c:v>OP2</c:v>
                </c:pt>
                <c:pt idx="5">
                  <c:v>NUP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11.11</c:v>
                </c:pt>
                <c:pt idx="1">
                  <c:v>9.08</c:v>
                </c:pt>
                <c:pt idx="2">
                  <c:v>7.54</c:v>
                </c:pt>
                <c:pt idx="3">
                  <c:v>7.43</c:v>
                </c:pt>
                <c:pt idx="4">
                  <c:v>5.81</c:v>
                </c:pt>
                <c:pt idx="5">
                  <c:v>5.49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sz="9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Overdue actions by age, days (179 total)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Actions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  <a:ln>
                <a:noFill/>
              </a:ln>
            </c:spPr>
          </c:dPt>
          <c:dPt>
            <c:idx val="1"/>
            <c:spPr>
              <a:solidFill>
                <a:srgbClr val="3B82F6"/>
              </a:solidFill>
              <a:ln>
                <a:noFill/>
              </a:ln>
            </c:spPr>
          </c:dPt>
          <c:dPt>
            <c:idx val="2"/>
            <c:spPr>
              <a:solidFill>
                <a:srgbClr val="D97706"/>
              </a:solidFill>
              <a:ln>
                <a:noFill/>
              </a:ln>
            </c:spPr>
          </c:dPt>
          <c:dPt>
            <c:idx val="3"/>
            <c:spPr>
              <a:solidFill>
                <a:srgbClr val="EA580C"/>
              </a:solidFill>
              <a:ln>
                <a:noFill/>
              </a:ln>
            </c:spPr>
          </c:dPt>
          <c:dPt>
            <c:idx val="4"/>
            <c:spPr>
              <a:solidFill>
                <a:srgbClr val="DC2626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0-30</c:v>
                </c:pt>
                <c:pt idx="1">
                  <c:v>31-90</c:v>
                </c:pt>
                <c:pt idx="2">
                  <c:v>91-180</c:v>
                </c:pt>
                <c:pt idx="3">
                  <c:v>181-365</c:v>
                </c:pt>
                <c:pt idx="4">
                  <c:v>&gt;365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22</c:v>
                </c:pt>
                <c:pt idx="2">
                  <c:v>13</c:v>
                </c:pt>
                <c:pt idx="3">
                  <c:v>31</c:v>
                </c:pt>
                <c:pt idx="4">
                  <c:v>109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Similar-incident retrieval, before vs after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Rank-1 (%)</c:v>
                </c:pt>
              </c:strCache>
            </c:strRef>
          </c:tx>
          <c:dPt>
            <c:idx val="0"/>
            <c:spPr>
              <a:solidFill>
                <a:srgbClr val="DC2626"/>
              </a:solidFill>
              <a:ln>
                <a:noFill/>
              </a:ln>
            </c:spPr>
          </c:dPt>
          <c:dPt>
            <c:idx val="1"/>
            <c:spPr>
              <a:solidFill>
                <a:srgbClr val="16A34A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Baseline model</c:v>
                </c:pt>
                <c:pt idx="1">
                  <c:v>Full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69.2</c:v>
                </c:pt>
                <c:pt idx="1">
                  <c:v>87.1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KO-3201 DE vibration, 26 weeks (micron) — real history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 vibration (micron)</c:v>
                </c:pt>
              </c:strCache>
            </c:strRef>
          </c:tx>
          <c:spPr>
            <a:ln w="31750">
              <a:solidFill>
                <a:srgbClr val="1A56DB"/>
              </a:solidFill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28.9</c:v>
                </c:pt>
                <c:pt idx="1">
                  <c:v>26.9</c:v>
                </c:pt>
                <c:pt idx="2">
                  <c:v>29.7</c:v>
                </c:pt>
                <c:pt idx="3">
                  <c:v>29.0</c:v>
                </c:pt>
                <c:pt idx="4">
                  <c:v>28.7</c:v>
                </c:pt>
                <c:pt idx="5">
                  <c:v>30.3</c:v>
                </c:pt>
                <c:pt idx="6">
                  <c:v>33.7</c:v>
                </c:pt>
                <c:pt idx="7">
                  <c:v>33.9</c:v>
                </c:pt>
                <c:pt idx="8">
                  <c:v>35.4</c:v>
                </c:pt>
                <c:pt idx="9">
                  <c:v>37.7</c:v>
                </c:pt>
                <c:pt idx="10">
                  <c:v>39.6</c:v>
                </c:pt>
                <c:pt idx="11">
                  <c:v>41.6</c:v>
                </c:pt>
                <c:pt idx="12">
                  <c:v>45.5</c:v>
                </c:pt>
                <c:pt idx="13">
                  <c:v>49.2</c:v>
                </c:pt>
                <c:pt idx="14">
                  <c:v>51.1</c:v>
                </c:pt>
                <c:pt idx="15">
                  <c:v>55.9</c:v>
                </c:pt>
                <c:pt idx="16">
                  <c:v>59.1</c:v>
                </c:pt>
                <c:pt idx="17">
                  <c:v>60.5</c:v>
                </c:pt>
                <c:pt idx="18">
                  <c:v>66.7</c:v>
                </c:pt>
                <c:pt idx="19">
                  <c:v>71.7</c:v>
                </c:pt>
                <c:pt idx="20">
                  <c:v>76.5</c:v>
                </c:pt>
                <c:pt idx="21">
                  <c:v>27.1</c:v>
                </c:pt>
                <c:pt idx="22">
                  <c:v>27.7</c:v>
                </c:pt>
                <c:pt idx="23">
                  <c:v>26.9</c:v>
                </c:pt>
                <c:pt idx="24">
                  <c:v>27.4</c:v>
                </c:pt>
                <c:pt idx="25">
                  <c:v>27.2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ALARM (45)</c:v>
                </c:pt>
              </c:strCache>
            </c:strRef>
          </c:tx>
          <c:spPr>
            <a:ln w="22225">
              <a:solidFill>
                <a:srgbClr val="D97706"/>
              </a:solidFill>
              <a:prstDash val="dash"/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45.0</c:v>
                </c:pt>
                <c:pt idx="1">
                  <c:v>45.0</c:v>
                </c:pt>
                <c:pt idx="2">
                  <c:v>45.0</c:v>
                </c:pt>
                <c:pt idx="3">
                  <c:v>45.0</c:v>
                </c:pt>
                <c:pt idx="4">
                  <c:v>45.0</c:v>
                </c:pt>
                <c:pt idx="5">
                  <c:v>45.0</c:v>
                </c:pt>
                <c:pt idx="6">
                  <c:v>45.0</c:v>
                </c:pt>
                <c:pt idx="7">
                  <c:v>45.0</c:v>
                </c:pt>
                <c:pt idx="8">
                  <c:v>45.0</c:v>
                </c:pt>
                <c:pt idx="9">
                  <c:v>45.0</c:v>
                </c:pt>
                <c:pt idx="10">
                  <c:v>45.0</c:v>
                </c:pt>
                <c:pt idx="11">
                  <c:v>45.0</c:v>
                </c:pt>
                <c:pt idx="12">
                  <c:v>45.0</c:v>
                </c:pt>
                <c:pt idx="13">
                  <c:v>45.0</c:v>
                </c:pt>
                <c:pt idx="14">
                  <c:v>45.0</c:v>
                </c:pt>
                <c:pt idx="15">
                  <c:v>45.0</c:v>
                </c:pt>
                <c:pt idx="16">
                  <c:v>45.0</c:v>
                </c:pt>
                <c:pt idx="17">
                  <c:v>45.0</c:v>
                </c:pt>
                <c:pt idx="18">
                  <c:v>45.0</c:v>
                </c:pt>
                <c:pt idx="19">
                  <c:v>45.0</c:v>
                </c:pt>
                <c:pt idx="20">
                  <c:v>45.0</c:v>
                </c:pt>
                <c:pt idx="21">
                  <c:v>45.0</c:v>
                </c:pt>
                <c:pt idx="22">
                  <c:v>45.0</c:v>
                </c:pt>
                <c:pt idx="23">
                  <c:v>45.0</c:v>
                </c:pt>
                <c:pt idx="24">
                  <c:v>45.0</c:v>
                </c:pt>
                <c:pt idx="25">
                  <c:v>45.0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TRIP (75)</c:v>
                </c:pt>
              </c:strCache>
            </c:strRef>
          </c:tx>
          <c:spPr>
            <a:ln w="22225">
              <a:solidFill>
                <a:srgbClr val="DC2626"/>
              </a:solidFill>
              <a:prstDash val="dash"/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75.0</c:v>
                </c:pt>
                <c:pt idx="1">
                  <c:v>75.0</c:v>
                </c:pt>
                <c:pt idx="2">
                  <c:v>75.0</c:v>
                </c:pt>
                <c:pt idx="3">
                  <c:v>75.0</c:v>
                </c:pt>
                <c:pt idx="4">
                  <c:v>75.0</c:v>
                </c:pt>
                <c:pt idx="5">
                  <c:v>75.0</c:v>
                </c:pt>
                <c:pt idx="6">
                  <c:v>75.0</c:v>
                </c:pt>
                <c:pt idx="7">
                  <c:v>75.0</c:v>
                </c:pt>
                <c:pt idx="8">
                  <c:v>75.0</c:v>
                </c:pt>
                <c:pt idx="9">
                  <c:v>75.0</c:v>
                </c:pt>
                <c:pt idx="10">
                  <c:v>75.0</c:v>
                </c:pt>
                <c:pt idx="11">
                  <c:v>75.0</c:v>
                </c:pt>
                <c:pt idx="12">
                  <c:v>75.0</c:v>
                </c:pt>
                <c:pt idx="13">
                  <c:v>75.0</c:v>
                </c:pt>
                <c:pt idx="14">
                  <c:v>75.0</c:v>
                </c:pt>
                <c:pt idx="15">
                  <c:v>75.0</c:v>
                </c:pt>
                <c:pt idx="16">
                  <c:v>75.0</c:v>
                </c:pt>
                <c:pt idx="17">
                  <c:v>75.0</c:v>
                </c:pt>
                <c:pt idx="18">
                  <c:v>75.0</c:v>
                </c:pt>
                <c:pt idx="19">
                  <c:v>75.0</c:v>
                </c:pt>
                <c:pt idx="20">
                  <c:v>75.0</c:v>
                </c:pt>
                <c:pt idx="21">
                  <c:v>75.0</c:v>
                </c:pt>
                <c:pt idx="22">
                  <c:v>75.0</c:v>
                </c:pt>
                <c:pt idx="23">
                  <c:v>75.0</c:v>
                </c:pt>
                <c:pt idx="24">
                  <c:v>75.0</c:v>
                </c:pt>
                <c:pt idx="25">
                  <c:v>75.0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58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916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75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833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792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0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709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26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84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543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01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460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3418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377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5335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36294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525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8211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71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143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714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286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857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429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4000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43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15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286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1917382" cy="5029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FB3D1"/>
                </a:solidFill>
                <a:latin typeface="Calibri"/>
              </a:rPr>
              <a:t>CALIBER 2026 — CASE 2: INTELLIGENT 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5087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One file. One truth.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From data to decision.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0632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9D5E8"/>
                </a:solidFill>
                <a:latin typeface="Calibri"/>
              </a:rPr>
              <a:t>380 incidents over 31 months, read from a single governed table. No server, no internet, no install.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3794760"/>
            <a:ext cx="2606040" cy="105156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$67.19M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USD exposure in scope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29000" y="3794760"/>
            <a:ext cx="2606040" cy="105156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2,261 h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downtime, 380 records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3794760"/>
            <a:ext cx="2606040" cy="105156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179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overdue actions (109 past 1 year)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40" y="3794760"/>
            <a:ext cx="2606040" cy="105156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87.1%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AI retrieval at rank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Jenny  ·  Hafidz  ·  Naufal  —  Advisor: Mr. Bayu Aji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01 / 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C9D5E8"/>
                </a:solidFill>
                <a:latin typeface="Calibri"/>
              </a:rPr>
              <a:t>Monthly loss exposure, Jan 2024 → Jul 2026 — peak $5.56M, average $2.17M per month. Full curve on slide 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THE PROBLEM, QUANTIFIED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The loss curve is going up, not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2026 run-rate vs 2024, worst month, and exposure stuck behind overdue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Source: baseline Incident Database, 380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148840"/>
            <a:ext cx="2011680" cy="9144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+34%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2026 run-rate vs 2024 ($1.97M → $2.64M/mo)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148840"/>
            <a:ext cx="2011680" cy="9144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$5.56M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worst month (Apr 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200400"/>
            <a:ext cx="2011680" cy="9144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56%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of exposure sits behind an overdue 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3200400"/>
            <a:ext cx="2011680" cy="9144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109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actions overdue by 1 year+ (oldest 926 d)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" y="2148840"/>
          <a:ext cx="63093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553212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Red peak = Apr 2026 $5.56M. Dashed reading: 2026 $2.64M/mo vs 2024 $1.97M/mo (+34%).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2976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Six functions, six dashboards, six KPI definitions — hours validating before deciding.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220 actions open, 179 past due, median age 463 days.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Root cause found late, so the same mechanism keeps repeating.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BASELINE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What we inherited — measured, not asserted.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Every figure below is recomputed from the same incident 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Every figure on this slide is recomputed from the same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03 / 11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321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Top 3 mechanisms = 52% of exposure ($35.04M) in 205 of 380 records.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2148840"/>
          <a:ext cx="521208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020"/>
                <a:gridCol w="1303020"/>
                <a:gridCol w="1303020"/>
                <a:gridCol w="1303020"/>
              </a:tblGrid>
              <a:tr h="375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Overdue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Loss ($M)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ZCU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11.11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ARP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9.08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OPP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7.54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SMX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7.43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OP2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5.81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5.49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OP3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5.26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5.10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55321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Unit ZCU alone carries $11.11M and 29 overdue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KEY QUESTION 1 — 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Four sources in. One governed table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Every chart on every tab reads the same incident table. Edit one record, every figure recomputes.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Declared additions: energy proxy + CCTV illustration, both labeled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1965960" cy="109728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11928"/>
                </a:solidFill>
                <a:latin typeface="Calibri"/>
              </a:rPr>
              <a:t>Incident DB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380 x 23 cols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A56DB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2377440"/>
            <a:ext cx="1965960" cy="109728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11928"/>
                </a:solidFill>
                <a:latin typeface="Calibri"/>
              </a:rPr>
              <a:t>Equipment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5 x 26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A56DB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09728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11928"/>
                </a:solidFill>
                <a:latin typeface="Calibri"/>
              </a:rPr>
              <a:t>Production 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5 x 721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A56DB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2377440"/>
            <a:ext cx="1965960" cy="109728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11928"/>
                </a:solidFill>
                <a:latin typeface="Calibri"/>
              </a:rPr>
              <a:t>Downtime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2,261.1 h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A56DB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377440"/>
            <a:ext cx="1965960" cy="109728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ONE TABLE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feeds 11 views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3474720" cy="13716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Single KPI contract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Same metric from incident DB, PI tags, or declared value, side by side — divergence visible, not hidden.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840480"/>
            <a:ext cx="3474720" cy="13716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Governed, not scraped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Baseline defects published in a Data Governance view: nulls, units, gaps — listed, not patched.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3840480"/>
            <a:ext cx="3474720" cy="13716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Offline by design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One HTML file from a USB stick. No install, no build, no server — survives a judge PC offline.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KEY QUESTION 2 — SINGLE PANE OF GLASS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The executive view, in one screen.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Fix-first priority plus unit ranking. Tap a bar in the dashboard to filter the incident list.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Trip logsheet: one row per trip, colored duration + follow-up dot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05 / 11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148840"/>
          <a:ext cx="539496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2148840"/>
          <a:ext cx="521208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492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Top 3 = 52% of exposure. Priority is money order, not loudest voice.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534924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Bar = loss in USD. od = overdue actions behind that unit. Tap to filter.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66534"/>
                </a:solidFill>
                <a:latin typeface="Calibri"/>
              </a:rPr>
              <a:t>0 charts without a data-provenance link.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ACTION TRACKING — AGING OF OVERDUE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109 actions are more than a year 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Real distribution of 179 overdue actions measured at 19-Aug-2026. Median age 463 days, oldest 926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Target is a modeled commitment, not a measured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06 / 11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377440"/>
          <a:ext cx="566928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75120" y="2377440"/>
            <a:ext cx="2286000" cy="14630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179 → 70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OVERDUE NOW → TARGET (109 actions &gt;1 year old drop out)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377440"/>
            <a:ext cx="2286000" cy="14630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$37.32M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of exposure (56%) stuck behind overdue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0233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Target basis: owner + due date mandatory at creation; closure blocked without evidence.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Red dot = nobody on it. Purple = in progress. Green = done.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KEY QUESTION 3 — AI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AI suggests. Humans close.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Both numbers measured leave-one-out on all 380 records — not a demo set. Full model 95% CI 83.4–90.1%.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Measurable, reproducible, published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07 / 11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377440"/>
          <a:ext cx="475488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760720" y="2377440"/>
            <a:ext cx="2286000" cy="12344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87.1%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rank-1 retrieval, CI 83.4–90.1%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2286000" cy="12344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66534"/>
                </a:solidFill>
                <a:latin typeface="Calibri"/>
              </a:rPr>
              <a:t>+17.9 pts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vs feature-lite baseline (69.2%)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9476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Problem tank → root-cause indication → prioritized alerts → tracked action.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Top-10 exposure plan in one click, each row with owner + PM schedule.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91B1B"/>
                </a:solidFill>
                <a:latin typeface="Calibri"/>
              </a:rPr>
              <a:t>Human-in-the-loop: AI never closes an action, the PIC does.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Rank-5: 98.4%. Method, confidence intervals and honest limits in the Model Evaluation tab.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CASE RECONSTRUCTION — COMPRESSOR KO-3201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Watch it degrade. 67 days of warning.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Real condition history. ALARM W10, TRIP W21: 77 days to act on KO-3201. Mean 67 days across 5 assets.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Demo path: RCA tab → KO-3201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08 / 11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377440"/>
          <a:ext cx="64008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0" y="2377440"/>
          <a:ext cx="4206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533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Asset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Lead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PU-2101B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42 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Actionable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PM-4405B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42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Actionable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HE-3301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70 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Before trip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KO-3201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77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Before trip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BL-5702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105 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Before trip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623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All 5 RCA decks integrated (4P / 4M+1E, CAPA, PIC, PM schedule) — chronology and correlation one tap from any 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58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916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75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833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792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0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709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26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84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543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01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460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3418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377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5335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36294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525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8211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71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143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714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286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857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429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4000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43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15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286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FB3D1"/>
                </a:solidFill>
                <a:latin typeface="Calibri"/>
              </a:rPr>
              <a:t>IMPACT — BEFORE VS TARGET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Four numbers we commit to moving.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9D5E8"/>
                </a:solidFill>
                <a:latin typeface="Calibri"/>
              </a:rPr>
              <a:t>Baseline = measured. Target = modeled commitment with basis stated, in the open.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Loss recovery target = return to 2024 monthly level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09 / 11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40080" y="2468880"/>
          <a:ext cx="10881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737360"/>
                <a:gridCol w="365760"/>
                <a:gridCol w="1737360"/>
                <a:gridCol w="5212080"/>
              </a:tblGrid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FB3D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FB3D1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FB3D1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FB3D1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loss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A5A5"/>
                          </a:solidFill>
                          <a:latin typeface="Calibri"/>
                        </a:rPr>
                        <a:t>$2.64M/mo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86EFAC"/>
                          </a:solidFill>
                          <a:latin typeface="Calibri"/>
                        </a:rPr>
                        <a:t>$1.97M/mo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2026 running rate vs 2024 level. Fix-first on top-3 covers 52% of exposure.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Overdue actions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A5A5"/>
                          </a:solidFill>
                          <a:latin typeface="Calibri"/>
                        </a:rPr>
                        <a:t>179 of 220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86EFAC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109 actions past due 1 year+. Board forces owner + due date at creation.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Retrieval @1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A5A5"/>
                          </a:solidFill>
                          <a:latin typeface="Calibri"/>
                        </a:rPr>
                        <a:t>69.2%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86EFAC"/>
                          </a:solidFill>
                          <a:latin typeface="Calibri"/>
                        </a:rPr>
                        <a:t>87.1%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Both measured leave-one-out on n=380. Full model CI 83.4-90.1%.</a:t>
                      </a:r>
                    </a:p>
                  </a:txBody>
                  <a:tcPr>
                    <a:solidFill>
                      <a:srgbClr val="14387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Warning window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A5A5"/>
                          </a:solidFill>
                          <a:latin typeface="Calibri"/>
                        </a:rPr>
                        <a:t>reactive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86EFAC"/>
                          </a:solidFill>
                          <a:latin typeface="Calibri"/>
                        </a:rPr>
                        <a:t>67 days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Mean gap between first ALARM week and TRIP week, from 26-week condition history.</a:t>
                      </a:r>
                    </a:p>
                  </a:txBody>
                  <a:tcPr>
                    <a:solidFill>
                      <a:srgbClr val="0E2C63"/>
                    </a:solidFill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C9D5E8"/>
                </a:solidFill>
                <a:latin typeface="Calibri"/>
              </a:rPr>
              <a:t>Targets are modeled from this baseline, not measured results. We publish the basis so the assumption can be challenged, not the number.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IMPACT — STATED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What we measure, what we label, what we skip.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Honest limits score higher than hidden guesses.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Honest limits score higher than hidden guesses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10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3474720" cy="21031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66534"/>
                </a:solidFill>
                <a:latin typeface="Calibri"/>
              </a:rPr>
              <a:t>Measured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Loss, downtime, aging — 380 real records
Retrieval 87.1% / 98.4% leave-one-out
Warning 67 d from history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286000"/>
            <a:ext cx="3474720" cy="21031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Labeled, not hidden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Energy = derived proxy, formula printed
CCTV = illustration, aggregates real
Defects listed in Data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286000"/>
            <a:ext cx="3474720" cy="21031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991B1B"/>
                </a:solidFill>
                <a:latin typeface="Calibri"/>
              </a:rPr>
              <a:t>Out of scope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No live streaming (not required)
No auto-closure (human-in-the-loop)
No extra data beyond 2 declared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17720"/>
            <a:ext cx="2606040" cy="10058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52%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of exposure fixable by top-3 focus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4617720"/>
            <a:ext cx="2606040" cy="10058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$35.04M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addressable in 3 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17720"/>
            <a:ext cx="2606040" cy="10058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109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stale actions surfaced with 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4617720"/>
            <a:ext cx="2606040" cy="10058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67 d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average early-warning window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58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916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75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833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792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0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709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26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84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543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01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460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3418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377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5335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36294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525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8211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71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143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714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286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857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429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4000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43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15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286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FB3D1"/>
                </a:solidFill>
                <a:latin typeface="Calibri"/>
              </a:rPr>
              <a:t>TEAM &amp; NEXT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Jenny  ·  Hafidz  ·  Naufal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9D5E8"/>
                </a:solidFill>
                <a:latin typeface="Calibri"/>
              </a:rPr>
              <a:t>Advisor: Mr. Bayu Aji. Built from the official baseline only, plus two declared additions.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CALIBER 2026 — Case 2: Intelligent Manufacturing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355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11 / 11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2560320"/>
            <a:ext cx="3474720" cy="146304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Jenny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DECK + NARRATIVE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2560320"/>
            <a:ext cx="3474720" cy="146304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Hafidz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VOICE + DEMO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55279" y="2560320"/>
            <a:ext cx="3474720" cy="146304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Naufal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DATA + BUILD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4206240"/>
            <a:ext cx="3474720" cy="118872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 — Meter it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5 metered energy tags replace the proxy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0" y="4206240"/>
            <a:ext cx="3474720" cy="118872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 — Connect it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EDMS / AIMS / Twin for asset context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79" y="4206240"/>
            <a:ext cx="3474720" cy="118872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3 — Stream it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PI live feed, decoupled already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One file. One truth. From data to decision.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